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301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E4D6B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274320"/>
            <a:ext cx="2743200" cy="2743200"/>
          </a:xfrm>
          <a:prstGeom prst="ellipse">
            <a:avLst/>
          </a:prstGeom>
          <a:solidFill>
            <a:srgbClr val="1A8A9E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NumPy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Data Analysis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 for Data Science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1371600" cy="36576"/>
          </a:xfrm>
          <a:prstGeom prst="rect">
            <a:avLst/>
          </a:prstGeom>
          <a:solidFill>
            <a:srgbClr val="1A8A9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Python  |  High-Performance Computing  |  Data Science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474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8A9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NumPy?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4846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64008" cy="3474720"/>
          </a:xfrm>
          <a:prstGeom prst="rect">
            <a:avLst/>
          </a:prstGeom>
          <a:solidFill>
            <a:srgbClr val="1A8A9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(Numerical Python) is the fundamental package for scientific computing in Python. It provides a powerful N-dimensional array object, sophisticated broadcasting functions, and tools for integrating C/C++ and Fortran code.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released: 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 (as Numeric)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Creator: 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Travis Oliphant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 Open Source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Latest: 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2.x Series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1188720"/>
            <a:ext cx="2926080" cy="1554480"/>
          </a:xfrm>
          <a:prstGeom prst="rect">
            <a:avLst/>
          </a:prstGeom>
          <a:solidFill>
            <a:srgbClr val="0B1D3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1280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35M+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85216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Downloads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3017520"/>
            <a:ext cx="2926080" cy="1554480"/>
          </a:xfrm>
          <a:prstGeom prst="rect">
            <a:avLst/>
          </a:prstGeom>
          <a:solidFill>
            <a:srgbClr val="0E4D6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85216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Python Library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NumPy?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Python Lists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solidFill>
            <a:srgbClr val="0E4D6B">
              <a:alpha val="70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087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 to 50x Faster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171907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C-based operations on contiguous memory blocks outperform Python loops dramatically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solidFill>
            <a:srgbClr val="0E4D6B">
              <a:alpha val="70000"/>
            </a:srgbClr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774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Efficient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54480" y="258775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Fixed-type arrays consume far less memory than Python lists of objects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solidFill>
            <a:srgbClr val="0E4D6B">
              <a:alpha val="70000"/>
            </a:srgbClr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461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Vectorized Operations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554480" y="345643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operations to entire arrays without writing explicit loops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solidFill>
            <a:srgbClr val="0E4D6B">
              <a:alpha val="70000"/>
            </a:srgbClr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148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Rich Ecosystem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554480" y="43251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Pandas, Scikit-learn, TensorFlow, PyTorch, and more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" y="4572000"/>
            <a:ext cx="7863840" cy="54864"/>
          </a:xfrm>
          <a:prstGeom prst="rect">
            <a:avLst/>
          </a:prstGeom>
          <a:solidFill>
            <a:srgbClr val="1A8A9E">
              <a:alpha val="5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8A9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Concept: The ndarray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2560320" cy="457200"/>
          </a:xfrm>
          <a:prstGeom prst="rect">
            <a:avLst/>
          </a:prstGeom>
          <a:solidFill>
            <a:srgbClr val="1A8A9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1D Array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4, 5]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/ Series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474720" y="1097280"/>
            <a:ext cx="2560320" cy="457200"/>
          </a:xfrm>
          <a:prstGeom prst="rect">
            <a:avLst/>
          </a:prstGeom>
          <a:solidFill>
            <a:srgbClr val="0E4D6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2D Array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1691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[[1,2,3],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[4,5,6]]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/ Table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97280"/>
            <a:ext cx="2560320" cy="4572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3D Array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91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[[[1,2],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[3,4]],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[[5,6],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[7,8]]]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/ Cube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Attributes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1463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.shape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0" y="4114800"/>
            <a:ext cx="1463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286000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.dtype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0" y="4114800"/>
            <a:ext cx="1463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31920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.ndim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of axes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4114800"/>
            <a:ext cx="1463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77840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.size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7784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elements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4114800"/>
            <a:ext cx="1463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23760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8A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.itemsize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2376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Bytes/element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8A9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Array Creation &amp; Data Types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11480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Creation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Python list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Zeros &amp; Ones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np.zeros((3, 4))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= np.ones((2, 3))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Ranges &amp; Spaces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np.arange(0, 10, 2)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np.linspace(0, 1, 50)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Random arrays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np.random.randn(3, 3)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2064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Supported Data Types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645920"/>
          <a:ext cx="3474720" cy="2560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A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8A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int8/16/32/64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integers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uint8/16/32/64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Unsigned integers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float16/32/64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complex64/128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numbers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string_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Fixed-length strings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D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object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objects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Broadcasting &amp; Vectorization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93192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Vectorized Operations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Instead of loops: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[]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range(len(a)):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result.append(a[i] * 2)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vectorization: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 * 2  # 50x faster!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20116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Broadcasting Rules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np.array([[1,2,3],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[4,5,6]])  # (2,3)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np.array([10,20,30]) # (3,)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 broadcasts to match a: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 + b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[[11,22,33], [14,25,36]]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works when dimensions are: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2560320" cy="914400"/>
          </a:xfrm>
          <a:prstGeom prst="rect">
            <a:avLst/>
          </a:prstGeom>
          <a:solidFill>
            <a:srgbClr val="0E4D6B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1A8A9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in size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3794760"/>
            <a:ext cx="2560320" cy="914400"/>
          </a:xfrm>
          <a:prstGeom prst="rect">
            <a:avLst/>
          </a:prstGeom>
          <a:solidFill>
            <a:srgbClr val="0E4D6B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611880" y="3931920"/>
            <a:ext cx="457200" cy="457200"/>
          </a:xfrm>
          <a:prstGeom prst="ellipse">
            <a:avLst/>
          </a:prstGeom>
          <a:solidFill>
            <a:srgbClr val="1A8A9E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06240" y="3794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them is 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794760"/>
            <a:ext cx="2560320" cy="914400"/>
          </a:xfrm>
          <a:prstGeom prst="rect">
            <a:avLst/>
          </a:prstGeom>
          <a:solidFill>
            <a:srgbClr val="0E4D6B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3931920"/>
            <a:ext cx="457200" cy="457200"/>
          </a:xfrm>
          <a:prstGeom prst="ellipse">
            <a:avLst/>
          </a:prstGeom>
          <a:solidFill>
            <a:srgbClr val="1A8A9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3794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them is missing (prepend 1s)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8A9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Essential Functions for Data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2560320" cy="502920"/>
          </a:xfrm>
          <a:prstGeom prst="rect">
            <a:avLst/>
          </a:prstGeom>
          <a:solidFill>
            <a:srgbClr val="1A8A9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Statistical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2286000" cy="384048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np.mean()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286000"/>
            <a:ext cx="22860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86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np.median()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788920"/>
            <a:ext cx="2286000" cy="384048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np.std()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22860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91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np.var()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794760"/>
            <a:ext cx="2286000" cy="384048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94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np.percentile()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0" y="1097280"/>
            <a:ext cx="2560320" cy="502920"/>
          </a:xfrm>
          <a:prstGeom prst="rect">
            <a:avLst/>
          </a:prstGeom>
          <a:solidFill>
            <a:srgbClr val="0E4D6B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Manipulation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11880" y="1783080"/>
            <a:ext cx="2286000" cy="384048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np.reshape()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11880" y="2286000"/>
            <a:ext cx="22860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2286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np.concatenate()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2788920"/>
            <a:ext cx="2286000" cy="384048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np.split()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11880" y="3291840"/>
            <a:ext cx="22860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749040" y="3291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np.transpose()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11880" y="3794760"/>
            <a:ext cx="2286000" cy="384048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3794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np.flatten()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1097280"/>
            <a:ext cx="2560320" cy="5029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Linear Algebra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46520" y="1783080"/>
            <a:ext cx="2286000" cy="384048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np.dot()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46520" y="2286000"/>
            <a:ext cx="22860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2286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np.linalg.inv()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46520" y="2788920"/>
            <a:ext cx="2286000" cy="384048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np.linalg.eig()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46520" y="3291840"/>
            <a:ext cx="22860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3291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np.linalg.svd()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46520" y="3794760"/>
            <a:ext cx="2286000" cy="384048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3794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np.matmul()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8A9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New in NumPy 2.x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05156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051560"/>
            <a:ext cx="64008" cy="658368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17043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0698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Major Performance Boost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463040" y="13624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SIMD optimizations, faster sorting algorithms, and improved ufunc performance across all platforms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40080" y="182880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0080" y="1828800"/>
            <a:ext cx="64008" cy="658368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94767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184708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Revamped String Dtype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463040" y="213969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variable-length StringDType replaces fixed-length strings, with native support in the dtype system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40080" y="260604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0080" y="2606040"/>
            <a:ext cx="64008" cy="658368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72491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26243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Cleaned API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463040" y="291693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aliases removed, cleaner namespace with np.strings module, and consistent function signatures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40080" y="338328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0080" y="3383280"/>
            <a:ext cx="64008" cy="658368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0215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34015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Copy Keyword Everywhere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463040" y="369417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array creation and manipulation functions now accept copy=True/False for explicit memory control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40080" y="416052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0080" y="4160520"/>
            <a:ext cx="64008" cy="658368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79392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63040" y="417880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Better Type Promotion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1463040" y="447141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 50 adopted: Python scalars no longer cause unexpected type promotion in mixed operations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NumPy Ecosystem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is the backbone of the Python Data Science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29000" y="1828800"/>
            <a:ext cx="2286000" cy="2286000"/>
          </a:xfrm>
          <a:prstGeom prst="ellipse">
            <a:avLst/>
          </a:prstGeom>
          <a:solidFill>
            <a:srgbClr val="1A8A9E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0" y="18288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NumPy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280160"/>
            <a:ext cx="1645920" cy="640080"/>
          </a:xfrm>
          <a:prstGeom prst="rect">
            <a:avLst/>
          </a:prstGeom>
          <a:solidFill>
            <a:srgbClr val="0E4D6B">
              <a:alpha val="80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8988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2801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0" y="1280160"/>
            <a:ext cx="1645920" cy="640080"/>
          </a:xfrm>
          <a:prstGeom prst="rect">
            <a:avLst/>
          </a:prstGeom>
          <a:solidFill>
            <a:srgbClr val="0E4D6B">
              <a:alpha val="80000"/>
            </a:srgbClr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8988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2801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200400"/>
            <a:ext cx="1645920" cy="640080"/>
          </a:xfrm>
          <a:prstGeom prst="rect">
            <a:avLst/>
          </a:prstGeom>
          <a:solidFill>
            <a:srgbClr val="0E4D6B">
              <a:alpha val="80000"/>
            </a:srgbClr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1012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2004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858000" y="3200400"/>
            <a:ext cx="1645920" cy="640080"/>
          </a:xfrm>
          <a:prstGeom prst="rect">
            <a:avLst/>
          </a:prstGeom>
          <a:solidFill>
            <a:srgbClr val="0E4D6B">
              <a:alpha val="80000"/>
            </a:srgbClr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31012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60920" y="32004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1371600" y="2194560"/>
            <a:ext cx="1645920" cy="640080"/>
          </a:xfrm>
          <a:prstGeom prst="rect">
            <a:avLst/>
          </a:prstGeom>
          <a:solidFill>
            <a:srgbClr val="0E4D6B">
              <a:alpha val="80000"/>
            </a:srgbClr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0" y="2304288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874520" y="2194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943600" y="2194560"/>
            <a:ext cx="1645920" cy="640080"/>
          </a:xfrm>
          <a:prstGeom prst="rect">
            <a:avLst/>
          </a:prstGeom>
          <a:solidFill>
            <a:srgbClr val="0E4D6B">
              <a:alpha val="80000"/>
            </a:srgbClr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2304288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446520" y="219456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40080" y="4297680"/>
            <a:ext cx="18745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4407408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4297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2743200" y="4297680"/>
            <a:ext cx="18745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4640" y="4407408"/>
            <a:ext cx="365760" cy="36576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246120" y="4297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4846320" y="4297680"/>
            <a:ext cx="18745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4407408"/>
            <a:ext cx="365760" cy="36576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349240" y="4297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Research</a:t>
            </a:r>
            <a:endParaRPr lang="en-US" sz="1100" dirty="0"/>
          </a:p>
        </p:txBody>
      </p:sp>
      <p:sp>
        <p:nvSpPr>
          <p:cNvPr id="34" name="Shape 23"/>
          <p:cNvSpPr/>
          <p:nvPr/>
        </p:nvSpPr>
        <p:spPr>
          <a:xfrm>
            <a:off x="6949440" y="4297680"/>
            <a:ext cx="18745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0880" y="4407408"/>
            <a:ext cx="365760" cy="36576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452360" y="4297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E4D6B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188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is the foundational library for numerical computing in Python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ndarray provides fast, memory-efficient multidimensional arrays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2316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2377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&amp; vectorization eliminate slow Python loops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1752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2971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2.x brings major performance gains and a cleaner API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25880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Data Science library is built on top of NumPy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640080" y="4114800"/>
            <a:ext cx="7863840" cy="54864"/>
          </a:xfrm>
          <a:prstGeom prst="rect">
            <a:avLst/>
          </a:prstGeom>
          <a:solidFill>
            <a:srgbClr val="1A8A9E">
              <a:alpha val="50000"/>
            </a:srgbClr>
          </a:solidFill>
          <a:ln/>
        </p:spPr>
      </p:sp>
      <p:sp>
        <p:nvSpPr>
          <p:cNvPr id="17" name="Text 10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 numpy.org  |  docs.scipy.org  |  github.com/numpy/numpy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32004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755</Words>
  <Application>Microsoft Office PowerPoint</Application>
  <PresentationFormat>On-screen Show (16:9)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- The Foundation of Data Science in Python</dc:title>
  <dc:subject>PptxGenJS Presentation</dc:subject>
  <dc:creator>Data Science Presentation</dc:creator>
  <cp:lastModifiedBy>Mohamed El-sadek</cp:lastModifiedBy>
  <cp:revision>2</cp:revision>
  <dcterms:created xsi:type="dcterms:W3CDTF">2026-03-14T11:20:09Z</dcterms:created>
  <dcterms:modified xsi:type="dcterms:W3CDTF">2026-03-14T16:44:37Z</dcterms:modified>
</cp:coreProperties>
</file>